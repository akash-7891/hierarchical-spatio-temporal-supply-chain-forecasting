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17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g object 16"/>
          <p:cNvSpPr/>
          <p:nvPr/>
        </p:nvSpPr>
        <p:spPr>
          <a:xfrm>
            <a:off x="-1" y="3571"/>
            <a:ext cx="12192001" cy="6850858"/>
          </a:xfrm>
          <a:prstGeom prst="rect">
            <a:avLst/>
          </a:prstGeom>
          <a:solidFill>
            <a:srgbClr val="FDFBF7"/>
          </a:solidFill>
          <a:ln w="12700">
            <a:miter lim="400000"/>
          </a:ln>
        </p:spPr>
        <p:txBody>
          <a:bodyPr lIns="45672" tIns="45672" rIns="45672" bIns="45672"/>
          <a:lstStyle/>
          <a:p>
            <a:pPr defTabSz="914400"/>
            <a:endParaRPr sz="1800"/>
          </a:p>
        </p:txBody>
      </p:sp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558799" y="533244"/>
            <a:ext cx="11074402" cy="436426"/>
          </a:xfrm>
          <a:prstGeom prst="rect">
            <a:avLst/>
          </a:prstGeom>
        </p:spPr>
        <p:txBody>
          <a:bodyPr lIns="0" tIns="0" rIns="0" bIns="0" anchor="t"/>
          <a:lstStyle>
            <a:lvl1pPr algn="l" defTabSz="914400">
              <a:defRPr sz="2600" b="1">
                <a:solidFill>
                  <a:srgbClr val="0922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102072" y="2464805"/>
            <a:ext cx="7987856" cy="2535452"/>
          </a:xfrm>
          <a:prstGeom prst="rect">
            <a:avLst/>
          </a:prstGeom>
        </p:spPr>
        <p:txBody>
          <a:bodyPr lIns="0" tIns="0" rIns="0" bIns="0"/>
          <a:lstStyle>
            <a:lvl1pPr marL="0" indent="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4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6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800" defTabSz="914400">
              <a:spcBef>
                <a:spcPts val="0"/>
              </a:spcBef>
              <a:buSzTx/>
              <a:buFontTx/>
              <a:buNone/>
              <a:defRPr sz="2400" b="1">
                <a:solidFill>
                  <a:srgbClr val="E65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5149" y="6374869"/>
            <a:ext cx="267251" cy="279401"/>
          </a:xfrm>
          <a:prstGeom prst="rect">
            <a:avLst/>
          </a:prstGeom>
        </p:spPr>
        <p:txBody>
          <a:bodyPr lIns="0" tIns="0" rIns="0" bIns="0" anchor="t"/>
          <a:lstStyle>
            <a:lvl1pPr defTabSz="914400">
              <a:defRPr sz="1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7444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" y="3571"/>
            <a:ext cx="12172830" cy="6850858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Box 6"/>
          <p:cNvSpPr txBox="1"/>
          <p:nvPr/>
        </p:nvSpPr>
        <p:spPr>
          <a:xfrm>
            <a:off x="9414859" y="5161682"/>
            <a:ext cx="2877361" cy="106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2" tIns="45672" rIns="45672" bIns="45672">
            <a:spAutoFit/>
          </a:bodyPr>
          <a:lstStyle/>
          <a:p>
            <a:pPr marL="184784" indent="323850">
              <a:spcBef>
                <a:spcPts val="600"/>
              </a:spcBef>
              <a:defRPr sz="1200" b="1">
                <a:solidFill>
                  <a:srgbClr val="09224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>
                <a:latin typeface="Aptos"/>
              </a:rPr>
              <a:t>Submitted By:</a:t>
            </a:r>
            <a:br/>
            <a:r>
              <a:rPr sz="1200">
                <a:latin typeface="Aptos"/>
              </a:rPr>
              <a:t>Aakash Sharma</a:t>
            </a:r>
            <a:br/>
            <a:r>
              <a:rPr sz="1200">
                <a:latin typeface="Aptos"/>
              </a:rPr>
              <a:t>B.Tech CSE, 3rd Year</a:t>
            </a:r>
            <a:br/>
            <a:r>
              <a:rPr sz="1200">
                <a:latin typeface="Aptos"/>
              </a:rPr>
              <a:t>RTU Roll No. 24EACCS027</a:t>
            </a:r>
          </a:p>
        </p:txBody>
      </p:sp>
      <p:sp>
        <p:nvSpPr>
          <p:cNvPr id="106" name="TextBox 12"/>
          <p:cNvSpPr txBox="1"/>
          <p:nvPr/>
        </p:nvSpPr>
        <p:spPr>
          <a:xfrm>
            <a:off x="584866" y="5103653"/>
            <a:ext cx="1471132" cy="796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2" tIns="45672" rIns="45672" bIns="45672">
            <a:spAutoFit/>
          </a:bodyPr>
          <a:lstStyle/>
          <a:p>
            <a:pPr indent="12700">
              <a:spcBef>
                <a:spcPts val="600"/>
              </a:spcBef>
              <a:defRPr sz="1200" b="1">
                <a:solidFill>
                  <a:srgbClr val="09224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>
                <a:latin typeface="Aptos"/>
              </a:rPr>
              <a:t>Submitted To:</a:t>
            </a:r>
            <a:br/>
            <a:r>
              <a:rPr sz="1200">
                <a:latin typeface="Aptos"/>
              </a:rPr>
              <a:t>Head of Department</a:t>
            </a:r>
            <a:br/>
            <a:r>
              <a:rPr sz="1200">
                <a:latin typeface="Aptos"/>
              </a:rPr>
              <a:t>Department of CSE</a:t>
            </a:r>
          </a:p>
        </p:txBody>
      </p:sp>
      <p:pic>
        <p:nvPicPr>
          <p:cNvPr id="107" name="Picture 14" descr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" y="3571"/>
            <a:ext cx="12172830" cy="6850858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Box 16"/>
          <p:cNvSpPr txBox="1"/>
          <p:nvPr/>
        </p:nvSpPr>
        <p:spPr>
          <a:xfrm>
            <a:off x="2183399" y="155813"/>
            <a:ext cx="7672960" cy="397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2" tIns="45672" rIns="45672" bIns="45672">
            <a:spAutoFit/>
          </a:bodyPr>
          <a:lstStyle/>
          <a:p>
            <a:pPr marR="109220" algn="ctr">
              <a:spcBef>
                <a:spcPts val="100"/>
              </a:spcBef>
              <a:defRPr b="1" spc="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>
                <a:latin typeface="Aptos"/>
              </a:rPr>
              <a:t>A</a:t>
            </a:r>
            <a:br>
              <a:rPr dirty="0"/>
            </a:br>
            <a:r>
              <a:rPr sz="1500" dirty="0">
                <a:latin typeface="Aptos"/>
              </a:rPr>
              <a:t>Presentation</a:t>
            </a:r>
            <a:br>
              <a:rPr dirty="0"/>
            </a:br>
            <a:r>
              <a:rPr sz="1500" dirty="0">
                <a:latin typeface="Aptos"/>
              </a:rPr>
              <a:t>On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Hierarchical </a:t>
            </a:r>
            <a:r>
              <a:rPr sz="1500" dirty="0" err="1">
                <a:latin typeface="Aptos"/>
              </a:rPr>
              <a:t>Spati</a:t>
            </a:r>
            <a:r>
              <a:rPr lang="en-IN" sz="1500">
                <a:latin typeface="Aptos"/>
              </a:rPr>
              <a:t>o</a:t>
            </a:r>
            <a:r>
              <a:rPr sz="1500">
                <a:latin typeface="Aptos"/>
              </a:rPr>
              <a:t>-Temporal</a:t>
            </a:r>
            <a:br>
              <a:rPr dirty="0"/>
            </a:br>
            <a:r>
              <a:rPr sz="1500" dirty="0">
                <a:latin typeface="Aptos"/>
              </a:rPr>
              <a:t>Supply Chain Forecasting</a:t>
            </a:r>
            <a:br>
              <a:rPr dirty="0"/>
            </a:br>
            <a:r>
              <a:rPr sz="1500" dirty="0">
                <a:latin typeface="Aptos"/>
              </a:rPr>
              <a:t>Presented by: Akash Sharma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Roll No.: 24EACCS027</a:t>
            </a:r>
            <a:br>
              <a:rPr dirty="0"/>
            </a:br>
            <a:r>
              <a:rPr sz="1500" dirty="0">
                <a:latin typeface="Aptos"/>
              </a:rPr>
              <a:t>Department of Computer Science Engineering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Event: 6-Hour Internal Hackathon</a:t>
            </a:r>
            <a:br>
              <a:rPr dirty="0"/>
            </a:br>
            <a:r>
              <a:rPr sz="1500" dirty="0">
                <a:latin typeface="Aptos"/>
              </a:rPr>
              <a:t>Domain: Data Science &amp; AI/ML</a:t>
            </a:r>
            <a:br>
              <a:rPr dirty="0"/>
            </a:br>
            <a:br>
              <a:rPr dirty="0"/>
            </a:br>
            <a:r>
              <a:rPr sz="1500" dirty="0">
                <a:latin typeface="Aptos"/>
              </a:rPr>
              <a:t>Arya College of Engineering</a:t>
            </a:r>
            <a:br>
              <a:rPr dirty="0"/>
            </a:br>
            <a:r>
              <a:rPr sz="1500" dirty="0">
                <a:latin typeface="Aptos"/>
              </a:rPr>
              <a:t>Kukas, Jaipur, Rajasthan, India</a:t>
            </a:r>
          </a:p>
        </p:txBody>
      </p:sp>
      <p:pic>
        <p:nvPicPr>
          <p:cNvPr id="109" name="Picture 18" descr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372" y="4146352"/>
            <a:ext cx="1903017" cy="1779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sz="1500">
                <a:solidFill>
                  <a:srgbClr val="1B2333"/>
                </a:solidFill>
                <a:latin typeface="Calibri"/>
              </a:rPr>
              <a:t>01  Introduction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02  Objectives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03  Scope of the Project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04  Background Study &amp; Requirements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05  Dataset &amp; Features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06  Model Workflow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07  Model Implementation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sz="1500">
                <a:solidFill>
                  <a:srgbClr val="1B2333"/>
                </a:solidFill>
                <a:latin typeface="Calibri"/>
              </a:rPr>
              <a:t>08  Prediction Workflow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09  Streamlit Application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10  System Architecture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11  Results &amp; Observations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12  Challenges &amp; Solutions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13  Future Scope</a:t>
            </a:r>
            <a:br/>
            <a:r>
              <a:rPr sz="1500">
                <a:solidFill>
                  <a:srgbClr val="1B2333"/>
                </a:solidFill>
                <a:latin typeface="Calibri"/>
              </a:rPr>
              <a:t>14  References / Q&amp;A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309360" cy="4709160"/>
          </a:xfrm>
          <a:prstGeom prst="roundRect">
            <a:avLst>
              <a:gd name="adj" fmla="val 2718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18488"/>
            <a:ext cx="579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39112"/>
            <a:ext cx="579729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Supply chains need accurate demand forecasts at store, region and national levels.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This project predicts store-level sales from historical time-series data.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Lag features such as previous-day and previous-week sales are used with Linear Regression.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Store forecasts are aggregated upward to create consistent region and national forecasts.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41732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79208" y="160020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792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79208" y="205740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Store Sales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79208" y="253288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Historical sales by store and date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30632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379208" y="324612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37920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79208" y="370332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Forecast Sales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79208" y="417880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Use day, lag_1 and lag_7 features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78040" y="470916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79208" y="489204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37920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5349240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Reconcile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79208" y="582472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Store → Region → National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MODEL OBJECTIVES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Prepare and clean the sales time-series dataset.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Create day-of-week, lag_1 and lag_7 features.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Train a Linear Regression forecasting model.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Evaluate predictions using MAE and RMSE.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APPLICATION OBJECTIVES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Allow the user to select a region in Streamlit.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Generate store-level forecasts for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Aggregate store forecasts into region and national levels.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Show reconciliation checks and forecast graphs.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INCLUDED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Store-level sales forecasting from historical data.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Hierarchical levels: Store → Region → National.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Bottom-up forecast aggregation for reconciliation.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Interactive Streamlit dashboard with tables and graphs.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Uses a simple Linear Regression model.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No deep learning model is used.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No MinT optimal reconciliation is implemented.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External factors such as weather and promotions are not included.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BACKGROUND STUDY &amp;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TIME-SERIES FORECASTING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Forecasting estimates future sales from historical observations.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Lag features capture recent sales behavior.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Linear Regression provides a simple and interpretable baseline.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MAE and RMSE are used to measure forecast error.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TECHNOLOGY STACK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Python 3.x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Pandas for data handling and grouping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NumPy for numerical operations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Scikit-learn: LinearRegression and error metrics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Streamlit for the dashboard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Matplotlib for visualizations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DATASET &amp;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6085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Dataset: sales_data.csv, 1,080 rows.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Main fields include date, region, store and sales.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Lag features are created separately for each store.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Rows without required lag values are removed before training.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21792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Date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Daily sales 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5256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23544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Region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Regional grouping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770632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179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Store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Individual 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52560" y="2770632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2354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Sales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Target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4078224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21792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Lag Features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581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lag_1 and lag_7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4078224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923544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Time Feature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581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5B6472"/>
                </a:solidFill>
                <a:latin typeface="Calibri"/>
              </a:rPr>
              <a:t>day_of_week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5340096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035040" y="55046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DATE + STORE HISTORY + LAG FEATURES  →  SALES FORECAST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MODEL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Training / forecasting pipeline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Sales Dataset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CSV time-series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1237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632405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632405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32405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Data Cleaning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32405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Convert dates and remove missing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3834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15002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1500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15002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Feature Engineering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15002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day_of_week, lag_1, lag_7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6432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97600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3976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97600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Train / Test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97600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80% training, 20% test period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79029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80197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80197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80197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Linear Regression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80197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Fit model and predict sales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61626" y="2011680"/>
            <a:ext cx="1681429" cy="1828800"/>
          </a:xfrm>
          <a:prstGeom prst="roundRect">
            <a:avLst>
              <a:gd name="adj" fmla="val 652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162794" y="219456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1016279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2794" y="2651760"/>
            <a:ext cx="12790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Reconciliation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162794" y="3127248"/>
            <a:ext cx="12790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Store → Region → National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389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The same store forecasts are summed upward so that every higher level remains consistent with its lower-level forecasts.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MODEL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1. DATA PREPROCESSING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Read sales_data.csv with Pandas.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Convert date to datetime format.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Sort data by region, store and date.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Remove rows with unavailable values.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5112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81144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2. FEATURE ENGINEERING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1144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Create day_of_week from the date.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Create lag_1 and lag_7 within each store.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Remove rows where lag values are not available.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Use the three features for model training.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357616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3. TRAINING &amp; EVALUATION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Split the data using an 80% time cutoff.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Fit Linear Regression on training data.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Predict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Calculate MAE and RMSE.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PREDICTION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What happens when the user generates a forecast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Select Region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Choose a region in Streamlit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3243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014411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014411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4411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Prepare Test Data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14411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Use the selected region's test period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7846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279014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27901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79014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Predict Stores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79014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Linear Regression predicts store sales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42449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543617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54361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43617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Aggregate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43617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Sum stores into region totals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7052" y="1828800"/>
            <a:ext cx="2036003" cy="18288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808220" y="2011680"/>
            <a:ext cx="384048" cy="384048"/>
          </a:xfrm>
          <a:prstGeom prst="ellipse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98082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808220" y="24688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250" b="1">
                <a:solidFill>
                  <a:srgbClr val="16233F"/>
                </a:solidFill>
                <a:latin typeface="Cambria"/>
              </a:rPr>
              <a:t>National Level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808220" y="2944368"/>
            <a:ext cx="16336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B6472"/>
                </a:solidFill>
                <a:latin typeface="Calibri"/>
              </a:rPr>
              <a:t>Sum region forecasts into national total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548640" y="4206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</a:rPr>
              <a:t>OUTPUT  →  STORE → REGION → NATIONAL FORECAST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STREAMLIT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APP FEATURES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Loads the sales dataset when the app starts.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Provides a region selection dropdown.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Generates store-level forecasts on button click.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Displays MAE and RMSE for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Shows region and national forecast tables with graphs.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USER OUTPUTS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Selected Region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Store-level actual vs predicted sales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Region-level reconciled forecast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National-level reconciled forecast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Hierarchy difference check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Actual vs forecast line charts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B6472"/>
                </a:solidFill>
                <a:latin typeface="Calibri"/>
              </a:rPr>
              <a:t>End-to-end project workflow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SALES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07757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2807757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DATA CLEANING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66873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066873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LAG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25990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25990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LINEAR REGRESSION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85107" y="16002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585107" y="1600200"/>
            <a:ext cx="20579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STORE FORECAST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5577840" cy="685800"/>
          </a:xfrm>
          <a:prstGeom prst="roundRect">
            <a:avLst>
              <a:gd name="adj" fmla="val 13333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3291840" y="28346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REGION FORECAST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NATIONAL FORECAST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6252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86252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STREAMLIT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3864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223864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16233F"/>
                </a:solidFill>
                <a:latin typeface="Calibri"/>
              </a:rPr>
              <a:t>RECONCILIATION CHECK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1475" y="3977640"/>
            <a:ext cx="2581580" cy="777240"/>
          </a:xfrm>
          <a:prstGeom prst="roundRect">
            <a:avLst>
              <a:gd name="adj" fmla="val 11765"/>
            </a:avLst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061475" y="3977640"/>
            <a:ext cx="258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GRAPHS &amp; TABLES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RESULTS &amp; OBSERVATIONS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OBSERVATIONS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4928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Store-level forecasts are generated for the test period.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MAE and RMSE are calculated in the application.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Store forecasts are aggregated into region totals.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Region forecasts are aggregated into the national forecast.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The hierarchy check compares the sum of region forecasts with the national forecast.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name="adj" fmla="val 2745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EXAMPLE OUTPUT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Selected Level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1945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Region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Forecast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5786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Store → Region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62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Hierarchy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96265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Region → National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46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Check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3467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Difference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30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Expected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3730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114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B6472"/>
                </a:solidFill>
                <a:latin typeface="Calibri"/>
              </a:rPr>
              <a:t>Level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41148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200" b="1">
                <a:solidFill>
                  <a:srgbClr val="1B2333"/>
                </a:solidFill>
                <a:latin typeface="Calibri"/>
              </a:rPr>
              <a:t>Consistent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636008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92240" y="46360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</a:rPr>
              <a:t>Reconciled Forecast = Sum of Lower-Level Forecasts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4589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5B6472"/>
                </a:solidFill>
                <a:latin typeface="Calibri"/>
              </a:rPr>
              <a:t>*MAE/RMSE values are generated from the selected region at runtime.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6233F"/>
                </a:solidFill>
                <a:latin typeface="Cambria"/>
              </a:rPr>
              <a:t>CHALLENGES, SOLUTIONS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04672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CHALLENGES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Lag features create missing values at the start of each store series.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Multiple stores and regions must be handled together.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Forecasts at different levels must remain consistent.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 6-hour hackathon requires a simple working prototype.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5112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81144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SOLUTIONS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1144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Use groupby() with shift() for store-level lags.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Sort data by region, store and date.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Use bottom-up aggregation for reconciliation.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Build the complete workflow in Streamlit.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1463040"/>
            <a:ext cx="3520440" cy="4663440"/>
          </a:xfrm>
          <a:prstGeom prst="roundRect">
            <a:avLst>
              <a:gd name="adj" fmla="val 3636"/>
            </a:avLst>
          </a:prstGeom>
          <a:solidFill>
            <a:srgbClr val="FDEC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357616" y="1664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6233F"/>
                </a:solidFill>
                <a:latin typeface="Cambria"/>
              </a:rPr>
              <a:t>FUTURE SCOPE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084832"/>
            <a:ext cx="30083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B2333"/>
                </a:solidFill>
                <a:latin typeface="Calibri"/>
              </a:rPr>
              <a:t>Try MinT optimal reconciliation.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Add weather and promotion features.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Test advanced models such as N-BEATS or TFT.</a:t>
            </a:r>
            <a:br/>
            <a:r>
              <a:rPr sz="1250">
                <a:solidFill>
                  <a:srgbClr val="1B2333"/>
                </a:solidFill>
                <a:latin typeface="Calibri"/>
              </a:rPr>
              <a:t>Evaluate with RMSSE across hierarchy levels.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</a:rPr>
              <a:t>HIERARCHICAL SUPPLY CHAIN FORECASTING  •  DATA SCIENCE &amp;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F33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50">
                <a:solidFill>
                  <a:srgbClr val="E7F0FB"/>
                </a:solidFill>
                <a:latin typeface="Calibri"/>
              </a:rPr>
              <a:t>Python Documentation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Pandas Documentation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Scikit-learn Documentation – Linear Regression, MAE, RMSE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Streamlit Documentation</a:t>
            </a:r>
            <a:br/>
            <a:r>
              <a:rPr sz="1350">
                <a:solidFill>
                  <a:srgbClr val="E7F0FB"/>
                </a:solidFill>
                <a:latin typeface="Calibri"/>
              </a:rPr>
              <a:t>Internal Hackathon PS-03: Hierarchical Spatio-Temporal Supply Chain Forecasting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26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863840" y="21031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sz="2400" b="1">
                <a:solidFill>
                  <a:srgbClr val="FFFFFF"/>
                </a:solidFill>
                <a:latin typeface="Cambria"/>
              </a:rPr>
              <a:t>THANK YOU</a:t>
            </a:r>
            <a:br/>
            <a:r>
              <a:rPr sz="2400" b="1">
                <a:solidFill>
                  <a:srgbClr val="FFFFFF"/>
                </a:solidFill>
                <a:latin typeface="Cambria"/>
              </a:rPr>
              <a:t>Any Questions?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E7F0FB"/>
                </a:solidFill>
                <a:latin typeface="Calibri"/>
              </a:rPr>
              <a:t>Aakash Sharma  |  24EACCS027  |  Arya College of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1325</Words>
  <Application>Microsoft Office PowerPoint</Application>
  <PresentationFormat>Widescreen</PresentationFormat>
  <Paragraphs>179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SHARMA</cp:lastModifiedBy>
  <cp:revision>4</cp:revision>
  <dcterms:created xsi:type="dcterms:W3CDTF">2026-09-16T18:57:57Z</dcterms:created>
  <dcterms:modified xsi:type="dcterms:W3CDTF">2026-09-26T03:59:21Z</dcterms:modified>
</cp:coreProperties>
</file>