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1176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bg object 16"/>
          <p:cNvSpPr/>
          <p:nvPr/>
        </p:nvSpPr>
        <p:spPr>
          <a:xfrm>
            <a:off x="-1" y="3571"/>
            <a:ext cx="12192001" cy="6850858"/>
          </a:xfrm>
          <a:prstGeom prst="rect">
            <a:avLst/>
          </a:prstGeom>
          <a:solidFill>
            <a:srgbClr val="FDFBF7"/>
          </a:solidFill>
          <a:ln w="12700">
            <a:miter lim="400000"/>
          </a:ln>
        </p:spPr>
        <p:txBody>
          <a:bodyPr lIns="45672" tIns="45672" rIns="45672" bIns="45672"/>
          <a:lstStyle/>
          <a:p>
            <a:pPr defTabSz="914400"/>
            <a:endParaRPr sz="1800"/>
          </a:p>
        </p:txBody>
      </p:sp>
      <p:sp>
        <p:nvSpPr>
          <p:cNvPr id="93" name="Title Text"/>
          <p:cNvSpPr txBox="1">
            <a:spLocks noGrp="1"/>
          </p:cNvSpPr>
          <p:nvPr>
            <p:ph type="title"/>
          </p:nvPr>
        </p:nvSpPr>
        <p:spPr>
          <a:xfrm>
            <a:off x="558799" y="533244"/>
            <a:ext cx="11074402" cy="436426"/>
          </a:xfrm>
          <a:prstGeom prst="rect">
            <a:avLst/>
          </a:prstGeom>
        </p:spPr>
        <p:txBody>
          <a:bodyPr lIns="0" tIns="0" rIns="0" bIns="0" anchor="t"/>
          <a:lstStyle>
            <a:lvl1pPr algn="l" defTabSz="914400">
              <a:defRPr sz="2600" b="1">
                <a:solidFill>
                  <a:srgbClr val="0922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9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2102072" y="2464805"/>
            <a:ext cx="7987856" cy="2535452"/>
          </a:xfrm>
          <a:prstGeom prst="rect">
            <a:avLst/>
          </a:prstGeom>
        </p:spPr>
        <p:txBody>
          <a:bodyPr lIns="0" tIns="0" rIns="0" bIns="0"/>
          <a:lstStyle>
            <a:lvl1pPr marL="0" indent="0" defTabSz="914400">
              <a:spcBef>
                <a:spcPts val="0"/>
              </a:spcBef>
              <a:buSzTx/>
              <a:buFontTx/>
              <a:buNone/>
              <a:defRPr sz="2400" b="1">
                <a:solidFill>
                  <a:srgbClr val="E65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457200" defTabSz="914400">
              <a:spcBef>
                <a:spcPts val="0"/>
              </a:spcBef>
              <a:buSzTx/>
              <a:buFontTx/>
              <a:buNone/>
              <a:defRPr sz="2400" b="1">
                <a:solidFill>
                  <a:srgbClr val="E65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914400" defTabSz="914400">
              <a:spcBef>
                <a:spcPts val="0"/>
              </a:spcBef>
              <a:buSzTx/>
              <a:buFontTx/>
              <a:buNone/>
              <a:defRPr sz="2400" b="1">
                <a:solidFill>
                  <a:srgbClr val="E65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1371600" defTabSz="914400">
              <a:spcBef>
                <a:spcPts val="0"/>
              </a:spcBef>
              <a:buSzTx/>
              <a:buFontTx/>
              <a:buNone/>
              <a:defRPr sz="2400" b="1">
                <a:solidFill>
                  <a:srgbClr val="E65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1828800" defTabSz="914400">
              <a:spcBef>
                <a:spcPts val="0"/>
              </a:spcBef>
              <a:buSzTx/>
              <a:buFontTx/>
              <a:buNone/>
              <a:defRPr sz="2400" b="1">
                <a:solidFill>
                  <a:srgbClr val="E65000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15149" y="6374869"/>
            <a:ext cx="267251" cy="279401"/>
          </a:xfrm>
          <a:prstGeom prst="rect">
            <a:avLst/>
          </a:prstGeom>
        </p:spPr>
        <p:txBody>
          <a:bodyPr lIns="0" tIns="0" rIns="0" bIns="0" anchor="t"/>
          <a:lstStyle>
            <a:lvl1pPr defTabSz="914400">
              <a:defRPr sz="18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744457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5" y="3571"/>
            <a:ext cx="12172830" cy="6850858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TextBox 6"/>
          <p:cNvSpPr txBox="1"/>
          <p:nvPr/>
        </p:nvSpPr>
        <p:spPr>
          <a:xfrm>
            <a:off x="9414859" y="5161682"/>
            <a:ext cx="2877361" cy="1062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72" tIns="45672" rIns="45672" bIns="45672">
            <a:spAutoFit/>
          </a:bodyPr>
          <a:lstStyle/>
          <a:p>
            <a:pPr marL="184784" indent="323850">
              <a:spcBef>
                <a:spcPts val="600"/>
              </a:spcBef>
              <a:defRPr sz="1200" b="1">
                <a:solidFill>
                  <a:srgbClr val="09224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200">
                <a:latin typeface="Aptos"/>
              </a:rPr>
              <a:t>Submitted By:</a:t>
            </a:r>
            <a:br/>
            <a:r>
              <a:rPr sz="1200">
                <a:latin typeface="Aptos"/>
              </a:rPr>
              <a:t>Aakash Sharma</a:t>
            </a:r>
            <a:br/>
            <a:r>
              <a:rPr sz="1200">
                <a:latin typeface="Aptos"/>
              </a:rPr>
              <a:t>B.Tech CSE, 3rd Year</a:t>
            </a:r>
            <a:br/>
            <a:r>
              <a:rPr sz="1200">
                <a:latin typeface="Aptos"/>
              </a:rPr>
              <a:t>RTU Roll No. 24EACCS027</a:t>
            </a:r>
          </a:p>
        </p:txBody>
      </p:sp>
      <p:sp>
        <p:nvSpPr>
          <p:cNvPr id="106" name="TextBox 12"/>
          <p:cNvSpPr txBox="1"/>
          <p:nvPr/>
        </p:nvSpPr>
        <p:spPr>
          <a:xfrm>
            <a:off x="584866" y="5103653"/>
            <a:ext cx="1471132" cy="796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72" tIns="45672" rIns="45672" bIns="45672">
            <a:spAutoFit/>
          </a:bodyPr>
          <a:lstStyle/>
          <a:p>
            <a:pPr indent="12700">
              <a:spcBef>
                <a:spcPts val="600"/>
              </a:spcBef>
              <a:defRPr sz="1200" b="1">
                <a:solidFill>
                  <a:srgbClr val="09224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200">
                <a:latin typeface="Aptos"/>
              </a:rPr>
              <a:t>Submitted To:</a:t>
            </a:r>
            <a:br/>
            <a:r>
              <a:rPr sz="1200">
                <a:latin typeface="Aptos"/>
              </a:rPr>
              <a:t>Head of Department</a:t>
            </a:r>
            <a:br/>
            <a:r>
              <a:rPr sz="1200">
                <a:latin typeface="Aptos"/>
              </a:rPr>
              <a:t>Department of CSE</a:t>
            </a:r>
          </a:p>
        </p:txBody>
      </p:sp>
      <p:pic>
        <p:nvPicPr>
          <p:cNvPr id="107" name="Picture 14" descr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5" y="3571"/>
            <a:ext cx="12172830" cy="6850858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TextBox 16"/>
          <p:cNvSpPr txBox="1"/>
          <p:nvPr/>
        </p:nvSpPr>
        <p:spPr>
          <a:xfrm>
            <a:off x="2183399" y="155813"/>
            <a:ext cx="7672960" cy="3970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72" tIns="45672" rIns="45672" bIns="45672">
            <a:spAutoFit/>
          </a:bodyPr>
          <a:lstStyle/>
          <a:p>
            <a:pPr marR="109220" algn="ctr">
              <a:spcBef>
                <a:spcPts val="100"/>
              </a:spcBef>
              <a:defRPr b="1" spc="2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500" dirty="0">
                <a:latin typeface="Aptos"/>
              </a:rPr>
              <a:t>A</a:t>
            </a:r>
            <a:br>
              <a:rPr dirty="0"/>
            </a:br>
            <a:r>
              <a:rPr sz="1500" dirty="0">
                <a:latin typeface="Aptos"/>
              </a:rPr>
              <a:t>Presentation</a:t>
            </a:r>
            <a:br>
              <a:rPr dirty="0"/>
            </a:br>
            <a:r>
              <a:rPr sz="1500" dirty="0">
                <a:latin typeface="Aptos"/>
              </a:rPr>
              <a:t>On</a:t>
            </a:r>
            <a:br>
              <a:rPr dirty="0"/>
            </a:br>
            <a:br>
              <a:rPr dirty="0"/>
            </a:br>
            <a:r>
              <a:rPr sz="1500" dirty="0">
                <a:latin typeface="Aptos"/>
              </a:rPr>
              <a:t>Hierarchical </a:t>
            </a:r>
            <a:r>
              <a:rPr sz="1500" dirty="0" err="1">
                <a:latin typeface="Aptos"/>
              </a:rPr>
              <a:t>Spati</a:t>
            </a:r>
            <a:r>
              <a:rPr lang="en-IN" sz="1500">
                <a:latin typeface="Aptos"/>
              </a:rPr>
              <a:t>o</a:t>
            </a:r>
            <a:r>
              <a:rPr sz="1500">
                <a:latin typeface="Aptos"/>
              </a:rPr>
              <a:t>-Temporal</a:t>
            </a:r>
            <a:br>
              <a:rPr dirty="0"/>
            </a:br>
            <a:r>
              <a:rPr sz="1500" dirty="0">
                <a:latin typeface="Aptos"/>
              </a:rPr>
              <a:t>Supply Chain Forecasting</a:t>
            </a:r>
            <a:br>
              <a:rPr dirty="0"/>
            </a:br>
            <a:r>
              <a:rPr sz="1500" dirty="0">
                <a:latin typeface="Aptos"/>
              </a:rPr>
              <a:t>Presented by: Akash Sharma</a:t>
            </a:r>
            <a:br>
              <a:rPr dirty="0"/>
            </a:br>
            <a:br>
              <a:rPr dirty="0"/>
            </a:br>
            <a:r>
              <a:rPr sz="1500" dirty="0">
                <a:latin typeface="Aptos"/>
              </a:rPr>
              <a:t>Roll No.: 24EACCS027</a:t>
            </a:r>
            <a:br>
              <a:rPr dirty="0"/>
            </a:br>
            <a:r>
              <a:rPr sz="1500" dirty="0">
                <a:latin typeface="Aptos"/>
              </a:rPr>
              <a:t>Department of Computer Science Engineering</a:t>
            </a:r>
            <a:br>
              <a:rPr dirty="0"/>
            </a:br>
            <a:br>
              <a:rPr dirty="0"/>
            </a:br>
            <a:r>
              <a:rPr sz="1500" dirty="0">
                <a:latin typeface="Aptos"/>
              </a:rPr>
              <a:t>Event: 6-Hour Internal Hackathon</a:t>
            </a:r>
            <a:br>
              <a:rPr dirty="0"/>
            </a:br>
            <a:r>
              <a:rPr sz="1500" dirty="0">
                <a:latin typeface="Aptos"/>
              </a:rPr>
              <a:t>Domain: Data Science &amp; AI/ML</a:t>
            </a:r>
            <a:br>
              <a:rPr dirty="0"/>
            </a:br>
            <a:br>
              <a:rPr dirty="0"/>
            </a:br>
            <a:r>
              <a:rPr sz="1500" dirty="0">
                <a:latin typeface="Aptos"/>
              </a:rPr>
              <a:t>Arya College of Engineering</a:t>
            </a:r>
            <a:br>
              <a:rPr dirty="0"/>
            </a:br>
            <a:r>
              <a:rPr sz="1500" dirty="0">
                <a:latin typeface="Aptos"/>
              </a:rPr>
              <a:t>Kukas, Jaipur, Rajasthan, India</a:t>
            </a:r>
          </a:p>
        </p:txBody>
      </p:sp>
      <p:pic>
        <p:nvPicPr>
          <p:cNvPr id="109" name="Picture 18" descr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372" y="4146352"/>
            <a:ext cx="1903017" cy="17797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CONTENTS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sz="1500">
                <a:solidFill>
                  <a:srgbClr val="1B2333"/>
                </a:solidFill>
                <a:latin typeface="Calibri"/>
              </a:rPr>
              <a:t>01  Introduction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02  Objectives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03  Scope of the Project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04  Background Study &amp; Requirements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05  Dataset &amp; Features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06  Model Workflow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07  Model Implementation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55448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sz="1500">
                <a:solidFill>
                  <a:srgbClr val="1B2333"/>
                </a:solidFill>
                <a:latin typeface="Calibri"/>
              </a:rPr>
              <a:t>08  Prediction Workflow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09  Streamlit Application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10  System Architecture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11  Results &amp; Observations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12  Challenges &amp; Solutions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13  Future Scope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14  References / Q&amp;A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309360" cy="4709160"/>
          </a:xfrm>
          <a:prstGeom prst="roundRect">
            <a:avLst>
              <a:gd name="adj" fmla="val 2718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04672" y="1618488"/>
            <a:ext cx="5797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39112"/>
            <a:ext cx="579729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Supply chains need accurate demand forecasts at store, region and national levels.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This project predicts store-level sales from historical time-series data.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Lag features such as previous-day and previous-week sales are used with Linear Regression.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SKU forecasts are aggregated upward through store and region levels to create consistent national forecasts.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78040" y="141732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379208" y="160020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37920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79208" y="2057400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Store Sales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79208" y="2532888"/>
            <a:ext cx="4078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Historical sales by date, region, store and SKU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78040" y="306324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379208" y="324612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737920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79208" y="3703320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Forecast Sales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79208" y="4178808"/>
            <a:ext cx="4078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Use day, lag_1 and lag_7 features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78040" y="470916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79208" y="489204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379208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79208" y="5349240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Reconcile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379208" y="5824728"/>
            <a:ext cx="4078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Store → Region → National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MODEL OBJECTIVES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84832"/>
            <a:ext cx="4928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Prepare and clean the sales time-series dataset.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Create day-of-week, lag_1 and lag_7 features.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Train a Linear Regression forecasting model.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Evaluate predictions using MAE and RMSE.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73952" y="16642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APPLICATION OBJECTIVES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084832"/>
            <a:ext cx="4928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Allow the user to select a region in Streamlit.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Generate store-level forecasts for the test period.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Aggregate store forecasts into region and national levels.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Show reconciliation checks and forecast graphs.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SCOPE OF THE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INCLUDED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84832"/>
            <a:ext cx="4928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SKU-level sales forecasting from historical data.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Hierarchical levels: SKU → Store → Region → National.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Bottom-up forecast aggregation for reconciliation from SKU → Store → Region → National.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Interactive Streamlit dashboard with tables and graphs.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73952" y="16642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LIMITATIONS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084832"/>
            <a:ext cx="4928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Uses a simple Linear Regression model.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No deep learning model is used.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No MinT optimal reconciliation is implemented.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External factors such as weather and promotions are not included.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BACKGROUND STUDY &amp; REQUIREMENTS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TIME-SERIES FORECASTING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84832"/>
            <a:ext cx="4928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Forecasting estimates future sales from historical observations.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Lag features capture recent sales behavior.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Linear Regression provides a simple and interpretable baseline.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MAE and RMSE are used to measure forecast error.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73952" y="16642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TECHNOLOGY STACK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084832"/>
            <a:ext cx="4928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Python 3.x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Pandas for data handling and grouping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NumPy for numerical operations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Scikit-learn: LinearRegression and error metrics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Streamlit for the dashboard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Matplotlib for visualizations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DATASET &amp;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0" cy="4663440"/>
          </a:xfrm>
          <a:prstGeom prst="roundRect">
            <a:avLst>
              <a:gd name="adj" fmla="val 274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84832"/>
            <a:ext cx="46085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Dataset: sales_data.csv, 1,080 rows.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Main fields include date, region, store and sales.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Lag features are created separately for each region-store-SKU series.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Rows without required lag values are removed before training.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0" y="14630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21792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Date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5B6472"/>
                </a:solidFill>
                <a:latin typeface="Calibri"/>
              </a:rPr>
              <a:t>Daily sales date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052560" y="14630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23544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Region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23544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5B6472"/>
                </a:solidFill>
                <a:latin typeface="Calibri"/>
              </a:rPr>
              <a:t>Regional grouping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2770632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21792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Store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2735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5B6472"/>
                </a:solidFill>
                <a:latin typeface="Calibri"/>
              </a:rPr>
              <a:t>Individual store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52560" y="2770632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23544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Sales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32735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5B6472"/>
                </a:solidFill>
                <a:latin typeface="Calibri"/>
              </a:rPr>
              <a:t>Target value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4078224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217920" y="4187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Lag Features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45811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5B6472"/>
                </a:solidFill>
                <a:latin typeface="Calibri"/>
              </a:rPr>
              <a:t>lag_1 and lag_7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52560" y="4078224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9235440" y="4187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Time Feature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45811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5B6472"/>
                </a:solidFill>
                <a:latin typeface="Calibri"/>
              </a:rPr>
              <a:t>day_of_week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5340096"/>
            <a:ext cx="5760720" cy="640080"/>
          </a:xfrm>
          <a:prstGeom prst="roundRect">
            <a:avLst>
              <a:gd name="adj" fmla="val 14286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6035040" y="55046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DATE + REGION + STORE + SKU HISTORY + LAG FEATURES  →  SALES FORECAST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MODEL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>
                <a:solidFill>
                  <a:srgbClr val="5B6472"/>
                </a:solidFill>
                <a:latin typeface="Calibri"/>
              </a:rPr>
              <a:t>Training / forecasting pipeline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681429" cy="1828800"/>
          </a:xfrm>
          <a:prstGeom prst="roundRect">
            <a:avLst>
              <a:gd name="adj" fmla="val 6526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49808" y="219456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49808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51760"/>
            <a:ext cx="12790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Sales Dataset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27248"/>
            <a:ext cx="12790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CSV time-series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31237" y="2011680"/>
            <a:ext cx="1681429" cy="1828800"/>
          </a:xfrm>
          <a:prstGeom prst="roundRect">
            <a:avLst>
              <a:gd name="adj" fmla="val 6526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632405" y="219456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2632405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32405" y="2651760"/>
            <a:ext cx="12790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Data Cleaning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632405" y="3127248"/>
            <a:ext cx="12790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Convert dates and remove missing values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13834" y="2011680"/>
            <a:ext cx="1681429" cy="1828800"/>
          </a:xfrm>
          <a:prstGeom prst="roundRect">
            <a:avLst>
              <a:gd name="adj" fmla="val 6526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15002" y="219456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4515002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15002" y="2651760"/>
            <a:ext cx="12790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Feature Engineering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15002" y="3127248"/>
            <a:ext cx="12790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day_of_week, lag_1, lag_7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96432" y="2011680"/>
            <a:ext cx="1681429" cy="1828800"/>
          </a:xfrm>
          <a:prstGeom prst="roundRect">
            <a:avLst>
              <a:gd name="adj" fmla="val 6526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397600" y="219456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39760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97600" y="2651760"/>
            <a:ext cx="12790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Train / Test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397600" y="3127248"/>
            <a:ext cx="12790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80% training, 20% test period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79029" y="2011680"/>
            <a:ext cx="1681429" cy="1828800"/>
          </a:xfrm>
          <a:prstGeom prst="roundRect">
            <a:avLst>
              <a:gd name="adj" fmla="val 6526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280197" y="219456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8280197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80197" y="2651760"/>
            <a:ext cx="12790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Linear Regression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280197" y="3127248"/>
            <a:ext cx="12790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Fit model and predict sales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61626" y="2011680"/>
            <a:ext cx="1681429" cy="1828800"/>
          </a:xfrm>
          <a:prstGeom prst="roundRect">
            <a:avLst>
              <a:gd name="adj" fmla="val 6526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0162794" y="219456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10162794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62794" y="2651760"/>
            <a:ext cx="12790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Reconciliation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0162794" y="3127248"/>
            <a:ext cx="12790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Store → Region → National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389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>
                <a:solidFill>
                  <a:srgbClr val="5B6472"/>
                </a:solidFill>
                <a:latin typeface="Calibri"/>
              </a:rPr>
              <a:t>The same store forecasts are summed upward so that every higher level remains consistent with its lower-level forecasts.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MODEL IMPLEMENTATION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663440"/>
          </a:xfrm>
          <a:prstGeom prst="roundRect">
            <a:avLst>
              <a:gd name="adj" fmla="val 3636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1. DATA PREPROCESSING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84832"/>
            <a:ext cx="30083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Read sales_data.csv with Pandas.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Convert date to datetime format.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Sort data by region, store and date.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Remove rows with unavailable values.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25112" y="1463040"/>
            <a:ext cx="3520440" cy="4663440"/>
          </a:xfrm>
          <a:prstGeom prst="roundRect">
            <a:avLst>
              <a:gd name="adj" fmla="val 3636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581144" y="16642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2. FEATURE ENGINEERING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81144" y="2084832"/>
            <a:ext cx="30083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Create day_of_week from the date.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Create lag_1 and lag_7 within each region-store-SKU series.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Remove rows where lag values are not available.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Use the three features for model training.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1584" y="1463040"/>
            <a:ext cx="3520440" cy="4663440"/>
          </a:xfrm>
          <a:prstGeom prst="roundRect">
            <a:avLst>
              <a:gd name="adj" fmla="val 3636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357616" y="16642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3. TRAINING &amp; EVALUATION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357616" y="2084832"/>
            <a:ext cx="30083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Split the data using an 80% time cutoff.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Fit Linear Regression on training data.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Predict the test period.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Calculate MAE and RMSE.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PREDICTION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>
                <a:solidFill>
                  <a:srgbClr val="5B6472"/>
                </a:solidFill>
                <a:latin typeface="Calibri"/>
              </a:rPr>
              <a:t>What happens when the user generates a forecast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36003" cy="1828800"/>
          </a:xfrm>
          <a:prstGeom prst="roundRect">
            <a:avLst>
              <a:gd name="adj" fmla="val 6000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49808" y="201168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4980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6888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Select Region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944368"/>
            <a:ext cx="16336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Choose a region in Streamlit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13243" y="1828800"/>
            <a:ext cx="2036003" cy="1828800"/>
          </a:xfrm>
          <a:prstGeom prst="roundRect">
            <a:avLst>
              <a:gd name="adj" fmla="val 6000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014411" y="201168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3014411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14411" y="246888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Prepare Test Data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014411" y="2944368"/>
            <a:ext cx="16336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Use the selected region's test period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77846" y="1828800"/>
            <a:ext cx="2036003" cy="1828800"/>
          </a:xfrm>
          <a:prstGeom prst="roundRect">
            <a:avLst>
              <a:gd name="adj" fmla="val 6000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279014" y="201168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5279014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79014" y="246888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Predict SKUs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79014" y="2944368"/>
            <a:ext cx="16336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Linear Regression predicts SKU sales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42449" y="1828800"/>
            <a:ext cx="2036003" cy="1828800"/>
          </a:xfrm>
          <a:prstGeom prst="roundRect">
            <a:avLst>
              <a:gd name="adj" fmla="val 6000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543617" y="201168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7543617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543617" y="246888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Aggregate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543617" y="2944368"/>
            <a:ext cx="16336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Sum SKUs into stores, then stores into region totals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07052" y="1828800"/>
            <a:ext cx="2036003" cy="1828800"/>
          </a:xfrm>
          <a:prstGeom prst="roundRect">
            <a:avLst>
              <a:gd name="adj" fmla="val 6000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9808220" y="201168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98082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808220" y="246888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National Level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808220" y="2944368"/>
            <a:ext cx="16336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Sum region forecasts into national total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20624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548640" y="4206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mbria"/>
              </a:rPr>
              <a:t>OUTPUT  →  SKU → STORE → REGION → NATIONAL FORECAST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STREAMLIT APPLICATION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APP FEATURES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84832"/>
            <a:ext cx="4928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Loads the sales dataset when the app starts.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Provides a region selection dropdown.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Generates SKU-level forecasts on button click.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Displays MAE and RMSE for the test period.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Shows region and national forecast tables with graphs.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73952" y="16642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USER OUTPUTS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084832"/>
            <a:ext cx="4928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Selected Region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SKU-level actual vs predicted sales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Region-level reconciled forecast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National-level reconciled forecast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Hierarchy difference check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Actual vs forecast line charts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>
                <a:solidFill>
                  <a:srgbClr val="5B6472"/>
                </a:solidFill>
                <a:latin typeface="Calibri"/>
              </a:rPr>
              <a:t>End-to-end project workflow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57949" cy="777240"/>
          </a:xfrm>
          <a:prstGeom prst="roundRect">
            <a:avLst>
              <a:gd name="adj" fmla="val 1176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20579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16233F"/>
                </a:solidFill>
                <a:latin typeface="Calibri"/>
              </a:rPr>
              <a:t>SALES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07757" y="1600200"/>
            <a:ext cx="2057949" cy="777240"/>
          </a:xfrm>
          <a:prstGeom prst="roundRect">
            <a:avLst>
              <a:gd name="adj" fmla="val 11765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2807757" y="1600200"/>
            <a:ext cx="20579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16233F"/>
                </a:solidFill>
                <a:latin typeface="Calibri"/>
              </a:rPr>
              <a:t>DATA CLEANING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66873" y="1600200"/>
            <a:ext cx="2057949" cy="777240"/>
          </a:xfrm>
          <a:prstGeom prst="roundRect">
            <a:avLst>
              <a:gd name="adj" fmla="val 1176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066873" y="1600200"/>
            <a:ext cx="20579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16233F"/>
                </a:solidFill>
                <a:latin typeface="Calibri"/>
              </a:rPr>
              <a:t>LAG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25990" y="1600200"/>
            <a:ext cx="2057949" cy="777240"/>
          </a:xfrm>
          <a:prstGeom prst="roundRect">
            <a:avLst>
              <a:gd name="adj" fmla="val 11765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7325990" y="1600200"/>
            <a:ext cx="20579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16233F"/>
                </a:solidFill>
                <a:latin typeface="Calibri"/>
              </a:rPr>
              <a:t>LINEAR REGRESSION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585107" y="1600200"/>
            <a:ext cx="2057949" cy="777240"/>
          </a:xfrm>
          <a:prstGeom prst="roundRect">
            <a:avLst>
              <a:gd name="adj" fmla="val 1176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9585107" y="1600200"/>
            <a:ext cx="20579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16233F"/>
                </a:solidFill>
                <a:latin typeface="Calibri"/>
              </a:rPr>
              <a:t>STORE FORECAST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834640"/>
            <a:ext cx="5577840" cy="685800"/>
          </a:xfrm>
          <a:prstGeom prst="roundRect">
            <a:avLst>
              <a:gd name="adj" fmla="val 13333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3291840" y="283464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REGION FORECAST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2581580" cy="777240"/>
          </a:xfrm>
          <a:prstGeom prst="roundRect">
            <a:avLst>
              <a:gd name="adj" fmla="val 11765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3977640"/>
            <a:ext cx="258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16233F"/>
                </a:solidFill>
                <a:latin typeface="Calibri"/>
              </a:rPr>
              <a:t>NATIONAL FORECAST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6252" y="3977640"/>
            <a:ext cx="2581580" cy="777240"/>
          </a:xfrm>
          <a:prstGeom prst="roundRect">
            <a:avLst>
              <a:gd name="adj" fmla="val 1176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386252" y="3977640"/>
            <a:ext cx="258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16233F"/>
                </a:solidFill>
                <a:latin typeface="Calibri"/>
              </a:rPr>
              <a:t>STREAMLIT APP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23864" y="3977640"/>
            <a:ext cx="2581580" cy="777240"/>
          </a:xfrm>
          <a:prstGeom prst="roundRect">
            <a:avLst>
              <a:gd name="adj" fmla="val 11765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223864" y="3977640"/>
            <a:ext cx="258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16233F"/>
                </a:solidFill>
                <a:latin typeface="Calibri"/>
              </a:rPr>
              <a:t>RECONCILIATION CHECK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61475" y="3977640"/>
            <a:ext cx="2581580" cy="777240"/>
          </a:xfrm>
          <a:prstGeom prst="roundRect">
            <a:avLst>
              <a:gd name="adj" fmla="val 11765"/>
            </a:avLst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9061475" y="3977640"/>
            <a:ext cx="258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</a:rPr>
              <a:t>GRAPHS &amp; TABLES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RESULTS &amp; OBSERVATIONS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OBSERVATIONS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84832"/>
            <a:ext cx="4928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SKU-level forecasts are generated for the test period.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MAE and RMSE are calculated in the application.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SKU forecasts are aggregated into store totals, then region totals.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Region forecasts are aggregated into the national forecast.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The hierarchy check compares the sum of region forecasts with the national forecast.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EXAMPLE OUTPUT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5B6472"/>
                </a:solidFill>
                <a:latin typeface="Calibri"/>
              </a:rPr>
              <a:t>Selected Level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21945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B2333"/>
                </a:solidFill>
                <a:latin typeface="Calibri"/>
              </a:rPr>
              <a:t>Region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578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5B6472"/>
                </a:solidFill>
                <a:latin typeface="Calibri"/>
              </a:rPr>
              <a:t>Forecast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25786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B2333"/>
                </a:solidFill>
                <a:latin typeface="Calibri"/>
              </a:rPr>
              <a:t>Store → Region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9626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5B6472"/>
                </a:solidFill>
                <a:latin typeface="Calibri"/>
              </a:rPr>
              <a:t>Hierarchy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296265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B2333"/>
                </a:solidFill>
                <a:latin typeface="Calibri"/>
              </a:rPr>
              <a:t>Region → National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3467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5B6472"/>
                </a:solidFill>
                <a:latin typeface="Calibri"/>
              </a:rPr>
              <a:t>Check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334670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B2333"/>
                </a:solidFill>
                <a:latin typeface="Calibri"/>
              </a:rPr>
              <a:t>Difference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7307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5B6472"/>
                </a:solidFill>
                <a:latin typeface="Calibri"/>
              </a:rPr>
              <a:t>Expected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373075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B2333"/>
                </a:solidFill>
                <a:latin typeface="Calibri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1148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5B6472"/>
                </a:solidFill>
                <a:latin typeface="Calibri"/>
              </a:rPr>
              <a:t>Level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411480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B2333"/>
                </a:solidFill>
                <a:latin typeface="Calibri"/>
              </a:rPr>
              <a:t>Consistent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4636008"/>
            <a:ext cx="4892040" cy="777240"/>
          </a:xfrm>
          <a:prstGeom prst="roundRect">
            <a:avLst>
              <a:gd name="adj" fmla="val 11765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492240" y="463600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</a:rPr>
              <a:t>Reconciled Forecast = Sum of Lower-Level Forecasts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4589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5B6472"/>
                </a:solidFill>
                <a:latin typeface="Calibri"/>
              </a:rPr>
              <a:t>*MAE/RMSE values are generated from the selected region at runtime.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CHALLENGES, SOLUTIONS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663440"/>
          </a:xfrm>
          <a:prstGeom prst="roundRect">
            <a:avLst>
              <a:gd name="adj" fmla="val 3636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CHALLENGES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84832"/>
            <a:ext cx="30083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Lag features create missing values at the start of each region-store-SKU series.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Multiple SKUs, stores and regions must be handled together.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Forecasts at different levels must remain consistent.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A 6-hour hackathon requires a simple working prototype.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25112" y="1463040"/>
            <a:ext cx="3520440" cy="4663440"/>
          </a:xfrm>
          <a:prstGeom prst="roundRect">
            <a:avLst>
              <a:gd name="adj" fmla="val 3636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581144" y="16642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SOLUTIONS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81144" y="2084832"/>
            <a:ext cx="30083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Use groupby() with shift() for region-store-SKU lag features.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Sort data by region, store and date.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Use bottom-up aggregation for SKU → Store → Region → National reconciliation.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Build the complete workflow in Streamlit.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1584" y="1463040"/>
            <a:ext cx="3520440" cy="4663440"/>
          </a:xfrm>
          <a:prstGeom prst="roundRect">
            <a:avLst>
              <a:gd name="adj" fmla="val 3636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357616" y="16642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FUTURE SCOPE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357616" y="2084832"/>
            <a:ext cx="30083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Try MinT optimal reconciliation.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Add weather and promotion features.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Test advanced models such as N-BEATS or TFT.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Evaluate with RMSSE across hierarchy levels.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F335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2296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50">
                <a:solidFill>
                  <a:srgbClr val="E7F0FB"/>
                </a:solidFill>
                <a:latin typeface="Calibri"/>
              </a:rPr>
              <a:t>Python Documentation</a:t>
            </a:r>
            <a:br/>
            <a:r>
              <a:rPr sz="1350">
                <a:solidFill>
                  <a:srgbClr val="E7F0FB"/>
                </a:solidFill>
                <a:latin typeface="Calibri"/>
              </a:rPr>
              <a:t>Pandas Documentation</a:t>
            </a:r>
            <a:br/>
            <a:r>
              <a:rPr sz="1350">
                <a:solidFill>
                  <a:srgbClr val="E7F0FB"/>
                </a:solidFill>
                <a:latin typeface="Calibri"/>
              </a:rPr>
              <a:t>Scikit-learn Documentation – Linear Regression, MAE, RMSE</a:t>
            </a:r>
            <a:br/>
            <a:r>
              <a:rPr sz="1350">
                <a:solidFill>
                  <a:srgbClr val="E7F0FB"/>
                </a:solidFill>
                <a:latin typeface="Calibri"/>
              </a:rPr>
              <a:t>Streamlit Documentation</a:t>
            </a:r>
            <a:br/>
            <a:r>
              <a:rPr sz="1350">
                <a:solidFill>
                  <a:srgbClr val="E7F0FB"/>
                </a:solidFill>
                <a:latin typeface="Calibri"/>
              </a:rPr>
              <a:t>Internal Hackathon PS-03: Hierarchical Spatio-Temporal Supply Chain Forecasting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80960" y="2103120"/>
            <a:ext cx="3749040" cy="1554480"/>
          </a:xfrm>
          <a:prstGeom prst="roundRect">
            <a:avLst>
              <a:gd name="adj" fmla="val 7059"/>
            </a:avLst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863840" y="21031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sz="2400" b="1">
                <a:solidFill>
                  <a:srgbClr val="FFFFFF"/>
                </a:solidFill>
                <a:latin typeface="Cambria"/>
              </a:rPr>
              <a:t>THANK YOU</a:t>
            </a:r>
            <a:br/>
            <a:r>
              <a:rPr sz="2400" b="1">
                <a:solidFill>
                  <a:srgbClr val="FFFFFF"/>
                </a:solidFill>
                <a:latin typeface="Cambria"/>
              </a:rPr>
              <a:t>Any Questions?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E7F0FB"/>
                </a:solidFill>
                <a:latin typeface="Calibri"/>
              </a:rPr>
              <a:t>Aakash Sharma  |  24EACCS027  |  Arya College of Engineering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1325</Words>
  <Application>Microsoft Office PowerPoint</Application>
  <PresentationFormat>Widescreen</PresentationFormat>
  <Paragraphs>179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AAKASH SHARMA</cp:lastModifiedBy>
  <cp:revision>4</cp:revision>
  <dcterms:created xsi:type="dcterms:W3CDTF">2026-09-16T18:57:57Z</dcterms:created>
  <dcterms:modified xsi:type="dcterms:W3CDTF">2026-09-26T03:59:21Z</dcterms:modified>
</cp:coreProperties>
</file>